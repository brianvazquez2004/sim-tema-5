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12"/>
  </p:notesMasterIdLst>
  <p:sldIdLst>
    <p:sldId id="260" r:id="rId2"/>
    <p:sldId id="261" r:id="rId3"/>
    <p:sldId id="262" r:id="rId4"/>
    <p:sldId id="256" r:id="rId5"/>
    <p:sldId id="257" r:id="rId6"/>
    <p:sldId id="258" r:id="rId7"/>
    <p:sldId id="259" r:id="rId8"/>
    <p:sldId id="263" r:id="rId9"/>
    <p:sldId id="265" r:id="rId10"/>
    <p:sldId id="264" r:id="rId1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167C3722-BFBB-83D4-5565-66A5857B79B5}">
          <p14:sldIdLst>
            <p14:sldId id="260"/>
            <p14:sldId id="261"/>
            <p14:sldId id="262"/>
            <p14:sldId id="256"/>
          </p14:sldIdLst>
        </p14:section>
        <p14:section name="Bizagi" id="{C55BA8C2-F1AB-7D4A-690E-7940872272A9}">
          <p14:sldIdLst>
            <p14:sldId id="257"/>
          </p14:sldIdLst>
        </p14:section>
        <p14:section name="Camunda" id="{F73E5243-1B33-37DA-77E0-E3C30A35BCEF}">
          <p14:sldIdLst>
            <p14:sldId id="258"/>
          </p14:sldIdLst>
        </p14:section>
        <p14:section name="Bonita" id="{C01E8522-5AAB-E077-7890-F4D90E063832}">
          <p14:sldIdLst>
            <p14:sldId id="259"/>
            <p14:sldId id="263"/>
            <p14:sldId id="265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1162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8811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pPr algn="ctr"/>
            <a:fld id="{F7021451-1387-4CA6-816F-3879F97B5CBC}" type="slidenum">
              <a:rPr lang="en-US" b="1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5801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7021451-1387-4CA6-816F-3879F97B5CBC}" type="slidenum">
              <a:rPr lang="en-US" b="1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810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pPr algn="ctr"/>
            <a:fld id="{F7021451-1387-4CA6-816F-3879F97B5CBC}" type="slidenum">
              <a:rPr lang="en-US" b="1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3329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7021451-1387-4CA6-816F-3879F97B5CBC}" type="slidenum">
              <a:rPr lang="en-US" b="1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565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7021451-1387-4CA6-816F-3879F97B5CBC}" type="slidenum">
              <a:rPr lang="en-US" b="1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18364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7021451-1387-4CA6-816F-3879F97B5CBC}" type="slidenum">
              <a:rPr lang="en-US" b="1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321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7021451-1387-4CA6-816F-3879F97B5CBC}" type="slidenum">
              <a:rPr lang="en-US" b="1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61442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7021451-1387-4CA6-816F-3879F97B5CBC}" type="slidenum">
              <a:rPr lang="en-US" b="1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9422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10/4/2026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7021451-1387-4CA6-816F-3879F97B5CBC}" type="slidenum">
              <a:rPr lang="en-US" b="1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578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7021451-1387-4CA6-816F-3879F97B5CBC}" type="slidenum">
              <a:rPr lang="en-US" b="1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574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7021451-1387-4CA6-816F-3879F97B5CBC}" type="slidenum">
              <a:rPr lang="en-US" b="1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012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10312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361188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44403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199632"/>
            <a:ext cx="45720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02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pPr algn="ctr"/>
            <a:fld id="{F7021451-1387-4CA6-816F-3879F97B5CBC}" type="slidenum">
              <a:rPr lang="en-US" b="1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4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canva.link/y5f4iphi8lon6ye" TargetMode="Externa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Logos Oficiales – Tecnológico Nacional de México">
            <a:extLst>
              <a:ext uri="{FF2B5EF4-FFF2-40B4-BE49-F238E27FC236}">
                <a16:creationId xmlns:a16="http://schemas.microsoft.com/office/drawing/2014/main" id="{BAEED9D9-6278-4313-99F8-F596861BB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45" y="1382256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2382E4F-E8AE-4656-BC10-E5658E9C7CAD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" t="8280" b="-1"/>
          <a:stretch/>
        </p:blipFill>
        <p:spPr bwMode="auto">
          <a:xfrm>
            <a:off x="2954196" y="10541"/>
            <a:ext cx="5561330" cy="6330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E4BD228-57FF-453D-99DA-C78B7D1BB42F}"/>
              </a:ext>
            </a:extLst>
          </p:cNvPr>
          <p:cNvSpPr txBox="1"/>
          <p:nvPr/>
        </p:nvSpPr>
        <p:spPr>
          <a:xfrm>
            <a:off x="3143250" y="889843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Instituto Tecnológico de Frontera Comalapa</a:t>
            </a:r>
          </a:p>
          <a:p>
            <a:pPr algn="ctr"/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Modalidad Mixta</a:t>
            </a:r>
          </a:p>
          <a:p>
            <a:pPr algn="ctr"/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Materia: Simulación</a:t>
            </a:r>
          </a:p>
          <a:p>
            <a:pPr algn="ctr"/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Semestre: 5            		Modulo: 1</a:t>
            </a:r>
          </a:p>
          <a:p>
            <a:pPr algn="ctr"/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Especialidad: Ingeniería en Sistemas Computacionales.</a:t>
            </a:r>
          </a:p>
          <a:p>
            <a:pPr algn="ctr"/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Numero de control: 241260008</a:t>
            </a:r>
          </a:p>
          <a:p>
            <a:pPr algn="ctr"/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Alumno: Brian Ismael Vazquez Monzon</a:t>
            </a:r>
          </a:p>
          <a:p>
            <a:pPr algn="ctr"/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Docente: Francisco Javier Mingo Velázquez</a:t>
            </a:r>
          </a:p>
          <a:p>
            <a:pPr algn="ctr"/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Nombre del trabajo: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5.1 Proyecto integrador</a:t>
            </a:r>
          </a:p>
          <a:p>
            <a:pPr algn="ctr"/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Frontera Comalapa, Chiapas a 02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octubre 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del 2026</a:t>
            </a:r>
          </a:p>
        </p:txBody>
      </p:sp>
    </p:spTree>
    <p:extLst>
      <p:ext uri="{BB962C8B-B14F-4D97-AF65-F5344CB8AC3E}">
        <p14:creationId xmlns:p14="http://schemas.microsoft.com/office/powerpoint/2010/main" val="2779851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691E0E-FAC9-48DE-A174-2B49E94F6008}"/>
              </a:ext>
            </a:extLst>
          </p:cNvPr>
          <p:cNvSpPr>
            <a:spLocks noGrp="1"/>
          </p:cNvSpPr>
          <p:nvPr>
            <p:ph type="title" idx="101"/>
          </p:nvPr>
        </p:nvSpPr>
        <p:spPr>
          <a:xfrm>
            <a:off x="263008" y="246040"/>
            <a:ext cx="10881360" cy="1371600"/>
          </a:xfrm>
        </p:spPr>
        <p:txBody>
          <a:bodyPr/>
          <a:lstStyle/>
          <a:p>
            <a:r>
              <a:rPr lang="es-MX" dirty="0"/>
              <a:t>introducción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B2DD49-D5DA-4A5C-845F-D92AEE6BFBAD}"/>
              </a:ext>
            </a:extLst>
          </p:cNvPr>
          <p:cNvSpPr>
            <a:spLocks noGrp="1"/>
          </p:cNvSpPr>
          <p:nvPr>
            <p:ph type="body" idx="102"/>
          </p:nvPr>
        </p:nvSpPr>
        <p:spPr>
          <a:xfrm>
            <a:off x="432690" y="1726519"/>
            <a:ext cx="10881360" cy="1463040"/>
          </a:xfrm>
        </p:spPr>
        <p:txBody>
          <a:bodyPr>
            <a:noAutofit/>
          </a:bodyPr>
          <a:lstStyle/>
          <a:p>
            <a:pPr algn="just"/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En esta práctica hicimos el diagrama de los procesos de una granja de pollos que vende pollo vivo y destazado al mayoreo. La granja compra a dos proveedores, </a:t>
            </a:r>
            <a:r>
              <a:rPr lang="es-MX" sz="2800" dirty="0" err="1">
                <a:latin typeface="Arial" panose="020B0604020202020204" pitchFamily="34" charset="0"/>
                <a:cs typeface="Arial" panose="020B0604020202020204" pitchFamily="34" charset="0"/>
              </a:rPr>
              <a:t>Avimarca</a:t>
            </a: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 y Bachoco. Hicimos tres procesos: abastecimiento, venta de pollo vivo y venta de pollo destazado. Los trabajamos en tres programas: Bizagi, </a:t>
            </a:r>
            <a:r>
              <a:rPr lang="es-MX" sz="2800" dirty="0" err="1">
                <a:latin typeface="Arial" panose="020B0604020202020204" pitchFamily="34" charset="0"/>
                <a:cs typeface="Arial" panose="020B0604020202020204" pitchFamily="34" charset="0"/>
              </a:rPr>
              <a:t>Camunda</a:t>
            </a: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 y Bonita.</a:t>
            </a:r>
          </a:p>
        </p:txBody>
      </p:sp>
    </p:spTree>
    <p:extLst>
      <p:ext uri="{BB962C8B-B14F-4D97-AF65-F5344CB8AC3E}">
        <p14:creationId xmlns:p14="http://schemas.microsoft.com/office/powerpoint/2010/main" val="2048579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02BDF2-56C1-4B0B-8AE7-DFBC8C455F03}"/>
              </a:ext>
            </a:extLst>
          </p:cNvPr>
          <p:cNvSpPr>
            <a:spLocks noGrp="1"/>
          </p:cNvSpPr>
          <p:nvPr>
            <p:ph type="title" idx="101"/>
          </p:nvPr>
        </p:nvSpPr>
        <p:spPr>
          <a:xfrm>
            <a:off x="328996" y="283746"/>
            <a:ext cx="10881360" cy="1371600"/>
          </a:xfrm>
        </p:spPr>
        <p:txBody>
          <a:bodyPr/>
          <a:lstStyle/>
          <a:p>
            <a:r>
              <a:rPr lang="es-MX" dirty="0"/>
              <a:t>justificación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8ABD2FF-22F5-4BCA-958E-9C1BDC412512}"/>
              </a:ext>
            </a:extLst>
          </p:cNvPr>
          <p:cNvSpPr txBox="1"/>
          <p:nvPr/>
        </p:nvSpPr>
        <p:spPr>
          <a:xfrm>
            <a:off x="952106" y="2415694"/>
            <a:ext cx="1025824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Hicimos este diagrama para entender mejor cómo funciona una granja que vende al mayoreo. Con él se ve qué pasos se siguen y qué decisiones se toman, por ejemplo elegir entre </a:t>
            </a:r>
            <a:r>
              <a:rPr lang="es-MX" sz="2800" dirty="0" err="1">
                <a:latin typeface="Arial" panose="020B0604020202020204" pitchFamily="34" charset="0"/>
                <a:cs typeface="Arial" panose="020B0604020202020204" pitchFamily="34" charset="0"/>
              </a:rPr>
              <a:t>Avimarca</a:t>
            </a: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 y Bachoco, o revisar si un pollo cumple con lo requerido. Usamos tres programas para ver cómo trabaja cada uno con el mismo diagrama.</a:t>
            </a:r>
          </a:p>
        </p:txBody>
      </p:sp>
    </p:spTree>
    <p:extLst>
      <p:ext uri="{BB962C8B-B14F-4D97-AF65-F5344CB8AC3E}">
        <p14:creationId xmlns:p14="http://schemas.microsoft.com/office/powerpoint/2010/main" val="1939998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526958" y="321454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tx1"/>
                </a:solidFill>
              </a:rPr>
              <a:t>DIAGRAMA DE PROCESOS</a:t>
            </a:r>
            <a:endParaRPr lang="en-US" sz="4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/>
          </p:nvPr>
        </p:nvSpPr>
        <p:spPr>
          <a:xfrm>
            <a:off x="526958" y="19659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Granja de pollos: venta mayorista de pollo vivo y destazado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Proveedores: Avimarca y Bachoco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Bizagi · Camunda · Bonita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BIZAGI MODELER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199632"/>
            <a:ext cx="45720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  <p:sp>
        <p:nvSpPr>
          <p:cNvPr id="3" name="Marco captura 1"/>
          <p:cNvSpPr/>
          <p:nvPr/>
        </p:nvSpPr>
        <p:spPr>
          <a:xfrm>
            <a:off x="640080" y="1691640"/>
            <a:ext cx="3392424" cy="190823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4" name="Captura 1" descr="Bizagi Modeler con los procesos de abastecimiento y venta de pollo viv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691640"/>
            <a:ext cx="3392424" cy="1908238"/>
          </a:xfrm>
          <a:prstGeom prst="rect">
            <a:avLst/>
          </a:prstGeom>
        </p:spPr>
      </p:pic>
      <p:sp>
        <p:nvSpPr>
          <p:cNvPr id="5" name="Descripcion 1"/>
          <p:cNvSpPr txBox="1"/>
          <p:nvPr/>
        </p:nvSpPr>
        <p:spPr>
          <a:xfrm>
            <a:off x="640080" y="3782759"/>
            <a:ext cx="33924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 da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ala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creacion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diagrama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uno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cumple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desempeña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una function,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uno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lleva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mensaje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cual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muestra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proceso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Marco captura 2"/>
          <p:cNvSpPr/>
          <p:nvPr/>
        </p:nvSpPr>
        <p:spPr>
          <a:xfrm>
            <a:off x="4398264" y="1691640"/>
            <a:ext cx="3392424" cy="190823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7" name="Captura 2" descr="Bizagi Modeler con el proceso de pollo destazado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98264" y="1691640"/>
            <a:ext cx="3392424" cy="1908238"/>
          </a:xfrm>
          <a:prstGeom prst="rect">
            <a:avLst/>
          </a:prstGeom>
        </p:spPr>
      </p:pic>
      <p:sp>
        <p:nvSpPr>
          <p:cNvPr id="8" name="Descripcion 2"/>
          <p:cNvSpPr txBox="1"/>
          <p:nvPr/>
        </p:nvSpPr>
        <p:spPr>
          <a:xfrm>
            <a:off x="4398264" y="3782759"/>
            <a:ext cx="33924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Aquí se muestra el tercer proceso, Procesamiento y venta de pollo destazado: selección de aves, sacrificio y desplume, destazado y corte, e inspección sanitaria. Una compuerta decide si el lote se empaca, se factura y se cobra, o si se desecha o se reprocesa.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Marco captura 3"/>
          <p:cNvSpPr/>
          <p:nvPr/>
        </p:nvSpPr>
        <p:spPr>
          <a:xfrm>
            <a:off x="8156448" y="1691640"/>
            <a:ext cx="3392424" cy="190823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0" name="Captura 3" descr="Resultados de la simulación en Bizagi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56448" y="1691640"/>
            <a:ext cx="3392424" cy="1908238"/>
          </a:xfrm>
          <a:prstGeom prst="rect">
            <a:avLst/>
          </a:prstGeom>
        </p:spPr>
      </p:pic>
      <p:sp>
        <p:nvSpPr>
          <p:cNvPr id="11" name="Descripcion 3"/>
          <p:cNvSpPr txBox="1"/>
          <p:nvPr/>
        </p:nvSpPr>
        <p:spPr>
          <a:xfrm>
            <a:off x="8156448" y="3782759"/>
            <a:ext cx="33924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parte final ejecutamos la simulación en Bizagi. El escenario usa minutos como unidad y 30 días de duración. El proceso de abastecimiento inició 1,000 instancias y en la venta de pollo vivo 479 llegaron al evento final, lo que valida que el flujo funciona de principio a fin.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CAMUNDA MODELER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199632"/>
            <a:ext cx="45720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  <p:sp>
        <p:nvSpPr>
          <p:cNvPr id="3" name="Marco captura 1"/>
          <p:cNvSpPr/>
          <p:nvPr/>
        </p:nvSpPr>
        <p:spPr>
          <a:xfrm>
            <a:off x="640080" y="1600200"/>
            <a:ext cx="5271516" cy="296522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4" name="Captura 1" descr="Camunda Modeler con los tres procesos de la granj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600200"/>
            <a:ext cx="5271516" cy="2965228"/>
          </a:xfrm>
          <a:prstGeom prst="rect">
            <a:avLst/>
          </a:prstGeom>
        </p:spPr>
      </p:pic>
      <p:sp>
        <p:nvSpPr>
          <p:cNvPr id="5" name="Descripcion 1"/>
          <p:cNvSpPr txBox="1"/>
          <p:nvPr/>
        </p:nvSpPr>
        <p:spPr>
          <a:xfrm>
            <a:off x="640080" y="4748308"/>
            <a:ext cx="52715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Abrimos en Camunda Modeler (motor Camunda 7.20) el archivo granja_pollos_camunda.bpmn, que cargó sin errores. Se ven los tres procesos en sus pools, con compuertas exclusivas, tareas manuales y de usuario, y el flujo de mensaje “Solicitud de abasto”. A la izquierda está la paleta BPMN y a la derecha el panel de propiedades.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Marco captura 2"/>
          <p:cNvSpPr/>
          <p:nvPr/>
        </p:nvSpPr>
        <p:spPr>
          <a:xfrm>
            <a:off x="6277356" y="1600200"/>
            <a:ext cx="5271516" cy="2965228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7" name="Captura 2" descr="Token Simulation activo en Camunda Modele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77356" y="1600200"/>
            <a:ext cx="5271516" cy="2965228"/>
          </a:xfrm>
          <a:prstGeom prst="rect">
            <a:avLst/>
          </a:prstGeom>
        </p:spPr>
      </p:pic>
      <p:sp>
        <p:nvSpPr>
          <p:cNvPr id="8" name="Descripcion 2"/>
          <p:cNvSpPr txBox="1"/>
          <p:nvPr/>
        </p:nvSpPr>
        <p:spPr>
          <a:xfrm>
            <a:off x="6277356" y="4748308"/>
            <a:ext cx="52715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Activamos Token Simulation para probar el flujo visualmente. Aparece un token en el inicio de cada proceso y las compuertas permiten elegir la ruta. En abastecimiento el token llegó a “Recibir y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verificar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lote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a la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compuerta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Lote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conforme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Así se valida la lógica del proceso.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BONITA STUDIO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199632"/>
            <a:ext cx="457200" cy="4572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  <p:sp>
        <p:nvSpPr>
          <p:cNvPr id="3" name="Marco captura 1"/>
          <p:cNvSpPr/>
          <p:nvPr/>
        </p:nvSpPr>
        <p:spPr>
          <a:xfrm>
            <a:off x="640080" y="1691640"/>
            <a:ext cx="6675120" cy="3754755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4" name="Captura 1" descr="Bonita Studio con el diagrama importado y el panel de problema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691640"/>
            <a:ext cx="6675120" cy="3754755"/>
          </a:xfrm>
          <a:prstGeom prst="rect">
            <a:avLst/>
          </a:prstGeom>
        </p:spPr>
      </p:pic>
      <p:sp>
        <p:nvSpPr>
          <p:cNvPr id="5" name="Descripcion Bonita"/>
          <p:cNvSpPr txBox="1"/>
          <p:nvPr/>
        </p:nvSpPr>
        <p:spPr>
          <a:xfrm>
            <a:off x="7589520" y="1691640"/>
            <a:ext cx="395935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Importación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Importamos el archivo BPMN en Bonita Studio, dentro del proyecto GranjaPollos. Bonita conservó los tres procesos con sus eventos, tareas, compuertas y flujos, aunque reordenó los pools y acortó los nombres de las tareas.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¿Por qué no se pudo ejecutar?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panel de Problemas muestra 24 errores y 30 avisos, y cada tarea aparece con error. Bonita exige configurar actores, condiciones en las compuertas y datos antes de ejecutar, y el BPMN solo trae el dibujo del flujo. Por eso solo se logró importar y visualizar el modelo.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2C313E-85B4-4392-8944-7E0DC4898DBA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6D52970-3EE8-48AD-9FE1-40821018EEE2}"/>
              </a:ext>
            </a:extLst>
          </p:cNvPr>
          <p:cNvSpPr txBox="1"/>
          <p:nvPr/>
        </p:nvSpPr>
        <p:spPr>
          <a:xfrm>
            <a:off x="716436" y="1649691"/>
            <a:ext cx="1109534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Logramos hacer los tres procesos y abrirlos en los tres programas. En Bizagi se hizo la simulación y el proceso funcionó de principio a fin. En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Camunda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el archivo abrió sin errores y con Token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Simulation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recorrimos el proceso. En Bonita se pudo importar y ver el diagrama, pero no se pudo ejecutar porque marcó errores. Lo más probable es que Bonita necesite configurar más cosas, como quién hace cada tarea y las condiciones de las decisiones. Aprendimos que cada programa funciona diferente, y que hacer el diagrama no es lo mismo que ejecutarlo.</a:t>
            </a:r>
          </a:p>
        </p:txBody>
      </p:sp>
    </p:spTree>
    <p:extLst>
      <p:ext uri="{BB962C8B-B14F-4D97-AF65-F5344CB8AC3E}">
        <p14:creationId xmlns:p14="http://schemas.microsoft.com/office/powerpoint/2010/main" val="681791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1240B-6121-41EC-94B4-F607AD6B173E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s-MX" dirty="0"/>
              <a:t>CUADRO COMPARATIVO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A2FC26-095F-4D04-A406-7AE65AC93E0D}"/>
              </a:ext>
            </a:extLst>
          </p:cNvPr>
          <p:cNvSpPr txBox="1"/>
          <p:nvPr/>
        </p:nvSpPr>
        <p:spPr>
          <a:xfrm>
            <a:off x="7340923" y="2012643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Comparto evidencia cuadro comparativo</a:t>
            </a:r>
          </a:p>
          <a:p>
            <a:endParaRPr lang="es-MX" dirty="0"/>
          </a:p>
          <a:p>
            <a:r>
              <a:rPr lang="es-MX" dirty="0">
                <a:hlinkClick r:id="rId2"/>
              </a:rPr>
              <a:t>https://canva.link/y5f4iphi8lon6ye</a:t>
            </a:r>
            <a:endParaRPr lang="es-MX" dirty="0"/>
          </a:p>
          <a:p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0E728ED-D516-4743-88A8-4CB01F4CC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69" y="1229742"/>
            <a:ext cx="6718169" cy="503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71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EA5BB-7A21-4136-8D76-D35079703581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s-MX" dirty="0"/>
              <a:t>Anexo enlace </a:t>
            </a:r>
            <a:r>
              <a:rPr lang="es-MX" dirty="0" err="1"/>
              <a:t>git</a:t>
            </a:r>
            <a:r>
              <a:rPr lang="es-MX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06397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Letras en madera">
  <a:themeElements>
    <a:clrScheme name="Letras en mader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Letras en mader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Letras en made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Letras en madera</Template>
  <TotalTime>48</TotalTime>
  <Words>699</Words>
  <Application>Microsoft Office PowerPoint</Application>
  <PresentationFormat>Panorámica</PresentationFormat>
  <Paragraphs>53</Paragraphs>
  <Slides>10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Calibri</vt:lpstr>
      <vt:lpstr>Rockwell</vt:lpstr>
      <vt:lpstr>Rockwell Condensed</vt:lpstr>
      <vt:lpstr>Wingdings</vt:lpstr>
      <vt:lpstr>Letras en madera</vt:lpstr>
      <vt:lpstr>Presentación de PowerPoint</vt:lpstr>
      <vt:lpstr>introducción</vt:lpstr>
      <vt:lpstr>justificación</vt:lpstr>
      <vt:lpstr>DIAGRAMA DE PROCESOS</vt:lpstr>
      <vt:lpstr>BIZAGI MODELER</vt:lpstr>
      <vt:lpstr>CAMUNDA MODELER</vt:lpstr>
      <vt:lpstr>BONITA STUDIO</vt:lpstr>
      <vt:lpstr>Conclusión </vt:lpstr>
      <vt:lpstr>CUADRO COMPARATIVO </vt:lpstr>
      <vt:lpstr>Anexo enlace git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procesos - Granja de pollos</dc:title>
  <dc:subject>PptxGenJS Presentation</dc:subject>
  <dc:creator>PptxGenJS</dc:creator>
  <cp:lastModifiedBy>Brayan</cp:lastModifiedBy>
  <cp:revision>7</cp:revision>
  <dcterms:created xsi:type="dcterms:W3CDTF">2026-10-04T19:03:11Z</dcterms:created>
  <dcterms:modified xsi:type="dcterms:W3CDTF">2026-10-05T03:41:02Z</dcterms:modified>
</cp:coreProperties>
</file>